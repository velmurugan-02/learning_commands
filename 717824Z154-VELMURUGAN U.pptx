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73" r:id="rId7"/>
    <p:sldId id="265" r:id="rId8"/>
    <p:sldId id="272" r:id="rId9"/>
    <p:sldId id="267" r:id="rId10"/>
    <p:sldId id="268" r:id="rId11"/>
    <p:sldId id="270" r:id="rId12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1" autoAdjust="0"/>
    <p:restoredTop sz="94660"/>
  </p:normalViewPr>
  <p:slideViewPr>
    <p:cSldViewPr>
      <p:cViewPr varScale="1">
        <p:scale>
          <a:sx n="111" d="100"/>
          <a:sy n="111" d="100"/>
        </p:scale>
        <p:origin x="931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00856" y="2172716"/>
            <a:ext cx="1542287" cy="329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50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215849"/>
            <a:ext cx="4190365" cy="6084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5294" y="1224660"/>
            <a:ext cx="6657975" cy="1090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33333" y="4911342"/>
            <a:ext cx="179070" cy="154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106246"/>
            <a:ext cx="9963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Student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Name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3229" y="1106246"/>
            <a:ext cx="167297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:</a:t>
            </a:r>
            <a:r>
              <a:rPr lang="en-IN" sz="1200" spc="260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3399"/>
                </a:solidFill>
                <a:latin typeface="Arial"/>
                <a:cs typeface="Arial"/>
              </a:rPr>
              <a:t>Mr.</a:t>
            </a:r>
            <a:r>
              <a:rPr sz="1200" spc="-1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lang="en-IN" sz="1200" dirty="0">
                <a:solidFill>
                  <a:srgbClr val="FF3399"/>
                </a:solidFill>
                <a:latin typeface="Arial"/>
                <a:cs typeface="Arial"/>
              </a:rPr>
              <a:t>VELMURUGAN</a:t>
            </a:r>
            <a:r>
              <a:rPr sz="1200" spc="-2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lang="en-IN" sz="1200" spc="-50" dirty="0">
                <a:solidFill>
                  <a:srgbClr val="FF3399"/>
                </a:solidFill>
                <a:latin typeface="Arial"/>
                <a:cs typeface="Arial"/>
              </a:rPr>
              <a:t>U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472564"/>
            <a:ext cx="4102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Class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3229" y="1472564"/>
            <a:ext cx="618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:</a:t>
            </a:r>
            <a:r>
              <a:rPr sz="1200" spc="32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3399"/>
                </a:solidFill>
                <a:latin typeface="Arial"/>
                <a:cs typeface="Arial"/>
              </a:rPr>
              <a:t>II</a:t>
            </a:r>
            <a:r>
              <a:rPr sz="1200" spc="-1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3399"/>
                </a:solidFill>
                <a:latin typeface="Arial"/>
                <a:cs typeface="Arial"/>
              </a:rPr>
              <a:t>MCA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1838705"/>
            <a:ext cx="523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Roll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No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9800" y="1838705"/>
            <a:ext cx="101409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:</a:t>
            </a:r>
            <a:r>
              <a:rPr sz="1200" spc="330" dirty="0"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3399"/>
                </a:solidFill>
                <a:latin typeface="Arial"/>
                <a:cs typeface="Arial"/>
              </a:rPr>
              <a:t>717824Z15</a:t>
            </a:r>
            <a:r>
              <a:rPr lang="en-IN" sz="1200" spc="-10" dirty="0">
                <a:solidFill>
                  <a:srgbClr val="FF3399"/>
                </a:solidFill>
                <a:latin typeface="Arial"/>
                <a:cs typeface="Arial"/>
              </a:rPr>
              <a:t>4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2204161"/>
            <a:ext cx="4159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Batch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3229" y="2204161"/>
            <a:ext cx="84581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: </a:t>
            </a:r>
            <a:r>
              <a:rPr sz="1200" dirty="0">
                <a:solidFill>
                  <a:srgbClr val="FF3399"/>
                </a:solidFill>
                <a:latin typeface="Arial"/>
                <a:cs typeface="Arial"/>
              </a:rPr>
              <a:t>2024-</a:t>
            </a:r>
            <a:r>
              <a:rPr sz="1200" spc="-20" dirty="0">
                <a:solidFill>
                  <a:srgbClr val="FF3399"/>
                </a:solidFill>
                <a:latin typeface="Arial"/>
                <a:cs typeface="Arial"/>
              </a:rPr>
              <a:t>2026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540" y="2570479"/>
            <a:ext cx="3651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2135" algn="l"/>
              </a:tabLst>
            </a:pPr>
            <a:r>
              <a:rPr sz="1200" dirty="0">
                <a:latin typeface="Arial"/>
                <a:cs typeface="Arial"/>
              </a:rPr>
              <a:t>Course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&amp;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Name</a:t>
            </a:r>
            <a:r>
              <a:rPr sz="1200" dirty="0">
                <a:latin typeface="Arial"/>
                <a:cs typeface="Arial"/>
              </a:rPr>
              <a:t>	: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3399"/>
                </a:solidFill>
                <a:latin typeface="Arial"/>
                <a:cs typeface="Arial"/>
              </a:rPr>
              <a:t>23EXC302</a:t>
            </a:r>
            <a:r>
              <a:rPr sz="1200" spc="-2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3399"/>
                </a:solidFill>
                <a:latin typeface="Arial"/>
                <a:cs typeface="Arial"/>
              </a:rPr>
              <a:t>&amp;</a:t>
            </a:r>
            <a:r>
              <a:rPr sz="1200" spc="-1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3399"/>
                </a:solidFill>
                <a:latin typeface="Arial"/>
                <a:cs typeface="Arial"/>
              </a:rPr>
              <a:t>Mini</a:t>
            </a:r>
            <a:r>
              <a:rPr sz="1200" spc="-3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3399"/>
                </a:solidFill>
                <a:latin typeface="Arial"/>
                <a:cs typeface="Arial"/>
              </a:rPr>
              <a:t>Project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400" y="2852927"/>
            <a:ext cx="8839200" cy="594393"/>
          </a:xfrm>
          <a:prstGeom prst="rect">
            <a:avLst/>
          </a:prstGeom>
          <a:solidFill>
            <a:srgbClr val="000042"/>
          </a:solidFill>
        </p:spPr>
        <p:txBody>
          <a:bodyPr vert="horz" wrap="square" lIns="0" tIns="4000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15"/>
              </a:spcBef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Deepfake Image Detection Using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Color</a:t>
            </a:r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Channel Co-occurrence Matrices and Convolutional Neural Networks</a:t>
            </a:r>
            <a:endParaRPr sz="18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340" y="3947871"/>
            <a:ext cx="4319270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56535" algn="l"/>
              </a:tabLst>
            </a:pPr>
            <a:r>
              <a:rPr sz="1200" dirty="0">
                <a:latin typeface="Arial"/>
                <a:cs typeface="Arial"/>
              </a:rPr>
              <a:t>Guide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Name</a:t>
            </a:r>
            <a:r>
              <a:rPr lang="en-US" sz="1200" spc="-20" dirty="0">
                <a:latin typeface="Arial"/>
                <a:cs typeface="Arial"/>
              </a:rPr>
              <a:t>                           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3399"/>
                </a:solidFill>
                <a:latin typeface="Arial"/>
                <a:cs typeface="Arial"/>
              </a:rPr>
              <a:t>Dr.</a:t>
            </a:r>
            <a:r>
              <a:rPr sz="1200" spc="-25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FF3399"/>
                </a:solidFill>
                <a:latin typeface="Arial"/>
                <a:cs typeface="Arial"/>
              </a:rPr>
              <a:t>P.</a:t>
            </a:r>
            <a:r>
              <a:rPr sz="1200" spc="-10" dirty="0">
                <a:solidFill>
                  <a:srgbClr val="FF3399"/>
                </a:solidFill>
                <a:latin typeface="Arial"/>
                <a:cs typeface="Arial"/>
              </a:rPr>
              <a:t> SHANTHI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392" y="441325"/>
            <a:ext cx="4190365" cy="382591"/>
          </a:xfrm>
          <a:prstGeom prst="rect">
            <a:avLst/>
          </a:prstGeom>
        </p:spPr>
        <p:txBody>
          <a:bodyPr vert="horz" wrap="square" lIns="0" tIns="135051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0"/>
              </a:spcBef>
            </a:pPr>
            <a:r>
              <a:rPr lang="en-US" sz="1600" spc="-1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600" spc="-1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.Introduction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3392" y="1000135"/>
            <a:ext cx="7717155" cy="177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415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Deepfake technology uses AI to generate highly realistic fake images. These synthetic images closely resemble real faces, making detection extremely challenging.</a:t>
            </a:r>
          </a:p>
          <a:p>
            <a:pPr marL="195580" indent="-18415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rapid growth of GANs improves manipulation quality continuously. As these generative models advance, visual inconsistencies become harder to identify.</a:t>
            </a:r>
          </a:p>
          <a:p>
            <a:pPr marL="195580" indent="-18415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Deepfakes pose risks in misinformation, impersonation, and digital security. The misuse of fabricated images threatens privacy, trust, and online communication.</a:t>
            </a:r>
          </a:p>
          <a:p>
            <a:pPr marL="195580" indent="-18415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Researchers worldwide propose various detection methods to counter deepfakes. These methods differ in feature extraction, datasets, and accuracy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635" y="441325"/>
            <a:ext cx="4190365" cy="416909"/>
          </a:xfrm>
          <a:prstGeom prst="rect">
            <a:avLst/>
          </a:prstGeom>
        </p:spPr>
        <p:txBody>
          <a:bodyPr vert="horz" wrap="square" lIns="0" tIns="108077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lang="en-US" sz="1600" spc="-1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spc="-10" dirty="0"/>
              <a:t>.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7543" y="974725"/>
            <a:ext cx="7655325" cy="274498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4945" marR="5080" indent="-184150">
              <a:spcBef>
                <a:spcPts val="34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Deepfake technology has advanced significantly, producing highly realistic manipulated facial images. These images often appear indistinguishable from real ones, making manual detection unreliable.</a:t>
            </a:r>
          </a:p>
          <a:p>
            <a:pPr marL="194945" marR="5080" indent="-184150">
              <a:spcBef>
                <a:spcPts val="34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increasing sophistication of generative models raises concerns about privacy and digital trust Deepfakes contribute to misinformation, identity misuse, and security threats across digital platforms.</a:t>
            </a:r>
          </a:p>
          <a:p>
            <a:pPr marL="194945" marR="5080" indent="-184150">
              <a:spcBef>
                <a:spcPts val="34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analysis covers handcrafted texture-based methods, CNN-based techniques, and frequency-domain models. Additionally, hybrid architectures and transformer-based systems are reviewed for their performance benefits.</a:t>
            </a:r>
          </a:p>
          <a:p>
            <a:pPr marL="194945" marR="5080" indent="-184150">
              <a:spcBef>
                <a:spcPts val="34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paper is evaluated based on feature extraction strategy, dataset used, and detection accuracy. This comparison provides insights into how design choices impact robustness and generalization.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517525"/>
            <a:ext cx="4190365" cy="323601"/>
          </a:xfrm>
          <a:prstGeom prst="rect">
            <a:avLst/>
          </a:prstGeom>
        </p:spPr>
        <p:txBody>
          <a:bodyPr vert="horz" wrap="square" lIns="0" tIns="76631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3.Existing</a:t>
            </a:r>
            <a:r>
              <a:rPr sz="1600" spc="9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716054"/>
            <a:ext cx="7995284" cy="2756524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356870" algn="l"/>
              </a:tabLst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6870" algn="l"/>
              </a:tabLst>
            </a:pP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The survey focuses on deepfake image detection, not video manipulation. This allows a deeper analysis of still-image forensic techniques.</a:t>
            </a: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6870" algn="l"/>
              </a:tabLst>
            </a:pP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The study covers texture-based, deep learning, frequency domain, and transformer models. Each category contributes unique insights into effective deepfake detection.</a:t>
            </a: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6870" algn="l"/>
              </a:tabLst>
            </a:pP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Only peer-reviewed and high-quality research papers from 2018–2024 are included. This ensures the study reflects modern advancements in deepfake technology.</a:t>
            </a: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6870" algn="l"/>
              </a:tabLst>
            </a:pP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The scope includes analyzing feature extraction, datasets, and evaluation methods. These factors together determine the reliability of each detection approach.</a:t>
            </a:r>
          </a:p>
          <a:p>
            <a:pPr marL="356870" indent="-34417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356870" algn="l"/>
              </a:tabLst>
            </a:pPr>
            <a:r>
              <a:rPr lang="en-US" sz="1400" spc="-10" dirty="0">
                <a:latin typeface="Arial" panose="020B0604020202020204" pitchFamily="34" charset="0"/>
                <a:cs typeface="Arial" panose="020B0604020202020204" pitchFamily="34" charset="0"/>
              </a:rPr>
              <a:t>The survey identifies recurring issues such as dataset bias and poor generalization. Highlighting these issues helps in understanding why some models perform inconsistently.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315" y="593725"/>
            <a:ext cx="4190365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10"/>
              </a:spcBef>
            </a:pPr>
            <a:r>
              <a:rPr lang="en-IN" sz="1600" spc="-10" dirty="0">
                <a:latin typeface="Arial" panose="020B0604020202020204" pitchFamily="34" charset="0"/>
                <a:cs typeface="Arial" panose="020B0604020202020204" pitchFamily="34" charset="0"/>
              </a:rPr>
              <a:t>4.Limitations on Paper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74903" y="974725"/>
            <a:ext cx="7847965" cy="2730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4150">
              <a:lnSpc>
                <a:spcPts val="2055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Most papers rely on limited or single datasets. This causes poor generalization when detecting unseen deepfake styles.</a:t>
            </a:r>
          </a:p>
          <a:p>
            <a:pPr marL="195580" indent="-184150">
              <a:lnSpc>
                <a:spcPts val="2055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Handcrafted features struggle against high-quality GAN images. Modern deepfakes hide pixel artifacts too well for classical techniques.</a:t>
            </a:r>
          </a:p>
          <a:p>
            <a:pPr marL="195580" indent="-184150">
              <a:lnSpc>
                <a:spcPts val="2055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Deep learning models require large computational resources. This makes deployment difficult on mobile or real-time environments.</a:t>
            </a:r>
          </a:p>
          <a:p>
            <a:pPr marL="195580" indent="-184150">
              <a:lnSpc>
                <a:spcPts val="2055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/>
              <a:t>Transformer models need very large training datasets. Limited data often leads to overfitting and unstable performance.</a:t>
            </a:r>
          </a:p>
          <a:p>
            <a:pPr marL="195580" indent="-184150">
              <a:lnSpc>
                <a:spcPts val="2055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Lack of explainability in most detection models. This reduces trustworthiness in forensic or security investigations.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5707-0CD9-75F2-2A75-FAF942F31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8" y="593725"/>
            <a:ext cx="4190365" cy="246221"/>
          </a:xfrm>
        </p:spPr>
        <p:txBody>
          <a:bodyPr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5.Comparative Insights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1893D-D9C9-C5F9-0820-175440607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8" y="1050925"/>
            <a:ext cx="6657975" cy="3016210"/>
          </a:xfrm>
        </p:spPr>
        <p:txBody>
          <a:bodyPr/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Differences in Dataset Quality and Diversity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Some papers use small or single-source datasets, causing limited generalization.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Studies with diverse datasets (Celeb-DF, DFDC,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FaceForensics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++) show more reliable and stable accuracy.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Robustness Against Real-World Manipulations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Methods relying only on RGB features degrade heavily under compression and noise.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Frequency-domain and hybrid models perform better in low-quality or social-media–like conditions.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Impact of Feature Selection Choices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Simple pixel or grayscale features miss high-level semantic clues.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Hybrid systems combining texture, frequency, and CNN features achieve the best cross-dataset performance.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07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583" y="441325"/>
            <a:ext cx="4190365" cy="326551"/>
          </a:xfrm>
          <a:prstGeom prst="rect">
            <a:avLst/>
          </a:prstGeom>
        </p:spPr>
        <p:txBody>
          <a:bodyPr vert="horz" wrap="square" lIns="0" tIns="7955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600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1600" spc="-75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spc="-75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 Technique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898525"/>
            <a:ext cx="7545070" cy="3915816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Texture-Based Extraction (GLCM, LBP)</a:t>
            </a:r>
          </a:p>
          <a:p>
            <a:pPr marL="252729" indent="-240029">
              <a:lnSpc>
                <a:spcPct val="100000"/>
              </a:lnSpc>
              <a:spcBef>
                <a:spcPts val="1055"/>
              </a:spcBef>
              <a:buFont typeface="Wingdings"/>
              <a:buChar char=""/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Captures micro-textures and co-occurrence relationships in pixel intensity.</a:t>
            </a:r>
          </a:p>
          <a:p>
            <a:pPr marL="252729" indent="-240029">
              <a:lnSpc>
                <a:spcPct val="100000"/>
              </a:lnSpc>
              <a:spcBef>
                <a:spcPts val="1055"/>
              </a:spcBef>
              <a:buFont typeface="Wingdings"/>
              <a:buChar char=""/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Effective for identifying subtle inconsistencies in fake images.</a:t>
            </a: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CNN-Based Deep Feature Extraction</a:t>
            </a:r>
          </a:p>
          <a:p>
            <a:pPr marL="252729" indent="-240029">
              <a:lnSpc>
                <a:spcPct val="100000"/>
              </a:lnSpc>
              <a:spcBef>
                <a:spcPts val="1055"/>
              </a:spcBef>
              <a:buFont typeface="Wingdings"/>
              <a:buChar char=""/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Learns hierarchical image patterns using convolutional layers.</a:t>
            </a:r>
          </a:p>
          <a:p>
            <a:pPr marL="252729" indent="-240029">
              <a:lnSpc>
                <a:spcPct val="100000"/>
              </a:lnSpc>
              <a:spcBef>
                <a:spcPts val="1055"/>
              </a:spcBef>
              <a:buFont typeface="Wingdings"/>
              <a:buChar char=""/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Highly accurate but requires large data and GPU resources.</a:t>
            </a: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Hybrid Feature Extraction</a:t>
            </a:r>
          </a:p>
          <a:p>
            <a:pPr marL="252729" indent="-240029">
              <a:lnSpc>
                <a:spcPct val="100000"/>
              </a:lnSpc>
              <a:spcBef>
                <a:spcPts val="1055"/>
              </a:spcBef>
              <a:buFont typeface="Wingdings"/>
              <a:buChar char=""/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Combines texture + deep features or frequency + CNN patterns.</a:t>
            </a:r>
          </a:p>
          <a:p>
            <a:pPr marL="252729" indent="-240029">
              <a:lnSpc>
                <a:spcPct val="100000"/>
              </a:lnSpc>
              <a:spcBef>
                <a:spcPts val="1055"/>
              </a:spcBef>
              <a:buFont typeface="Wingdings"/>
              <a:buChar char=""/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Provides stronger robustness and better performance across datasets.</a:t>
            </a:r>
          </a:p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Transformer-Based Feature Extraction</a:t>
            </a:r>
          </a:p>
          <a:p>
            <a:pPr marL="298450" indent="-285750">
              <a:lnSpc>
                <a:spcPct val="100000"/>
              </a:lnSpc>
              <a:spcBef>
                <a:spcPts val="1055"/>
              </a:spcBef>
              <a:buFont typeface="Wingdings" panose="05000000000000000000" pitchFamily="2" charset="2"/>
              <a:buChar char="Ø"/>
              <a:tabLst>
                <a:tab pos="252729" algn="l"/>
                <a:tab pos="817244" algn="l"/>
                <a:tab pos="2268220" algn="l"/>
                <a:tab pos="2887345" algn="l"/>
                <a:tab pos="3549015" algn="l"/>
                <a:tab pos="4225925" algn="l"/>
                <a:tab pos="4606925" algn="l"/>
                <a:tab pos="5634990" algn="l"/>
                <a:tab pos="6659245" algn="l"/>
              </a:tabLst>
            </a:pPr>
            <a:r>
              <a:rPr lang="en-US" sz="1400" dirty="0">
                <a:latin typeface="Arial"/>
                <a:cs typeface="Arial"/>
              </a:rPr>
              <a:t>Utilizes Vision Transformers (</a:t>
            </a:r>
            <a:r>
              <a:rPr lang="en-US" sz="1400" dirty="0" err="1">
                <a:latin typeface="Arial"/>
                <a:cs typeface="Arial"/>
              </a:rPr>
              <a:t>ViT</a:t>
            </a:r>
            <a:r>
              <a:rPr lang="en-US" sz="1400" dirty="0">
                <a:latin typeface="Arial"/>
                <a:cs typeface="Arial"/>
              </a:rPr>
              <a:t>) to capture long-range spatial relations.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534169"/>
            <a:ext cx="1871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7.Accuracy Chart</a:t>
            </a:r>
          </a:p>
        </p:txBody>
      </p:sp>
      <p:pic>
        <p:nvPicPr>
          <p:cNvPr id="5" name="Picture 4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DB69AF76-6F6C-B496-7E9A-4742AB94B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27125"/>
            <a:ext cx="6900678" cy="331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2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73585"/>
            <a:ext cx="4190365" cy="434273"/>
          </a:xfrm>
          <a:prstGeom prst="rect">
            <a:avLst/>
          </a:prstGeom>
        </p:spPr>
        <p:txBody>
          <a:bodyPr vert="horz" wrap="square" lIns="0" tIns="155753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FF3399"/>
                </a:solidFill>
              </a:rPr>
              <a:t>8</a:t>
            </a:r>
            <a:r>
              <a:rPr sz="1800" dirty="0">
                <a:solidFill>
                  <a:srgbClr val="FF3399"/>
                </a:solidFill>
              </a:rPr>
              <a:t>.</a:t>
            </a:r>
            <a:r>
              <a:rPr lang="en-US" sz="1800" dirty="0">
                <a:solidFill>
                  <a:srgbClr val="FF3399"/>
                </a:solidFill>
              </a:rPr>
              <a:t>Conclusion</a:t>
            </a:r>
            <a:endParaRPr sz="1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6F262-7343-E4CC-C9B7-A7A06870C921}"/>
              </a:ext>
            </a:extLst>
          </p:cNvPr>
          <p:cNvSpPr txBox="1"/>
          <p:nvPr/>
        </p:nvSpPr>
        <p:spPr>
          <a:xfrm>
            <a:off x="241205" y="974725"/>
            <a:ext cx="5253682" cy="1436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/>
              <a:t>Deepfake detection performance varies widely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Hybrid architectures show promising results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/>
              <a:t>Dataset diversity remains a major limitation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/>
              <a:t>Deep learning models outperform classical techniques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/>
              <a:t>Feature extraction plays a critical role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226" y="387497"/>
            <a:ext cx="4190365" cy="429912"/>
          </a:xfrm>
          <a:prstGeom prst="rect">
            <a:avLst/>
          </a:prstGeom>
        </p:spPr>
        <p:txBody>
          <a:bodyPr vert="horz" wrap="square" lIns="0" tIns="1819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.future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Enhancement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226" y="1050925"/>
            <a:ext cx="8664575" cy="13696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/>
              <a:t>Develop more robust hybrid models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IN" sz="1400" dirty="0"/>
              <a:t>Integrate real-time detection capability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/>
              <a:t>Expand to multi-modal deepfake detection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US" sz="1400" dirty="0"/>
              <a:t>Enhance dataset diversity and realism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IN" sz="1400" dirty="0"/>
              <a:t>Deployment in real-world platforms</a:t>
            </a:r>
          </a:p>
          <a:p>
            <a:pPr marL="299085" marR="46482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lang="en-IN" sz="1400" dirty="0"/>
              <a:t>Improve explainability and interpretability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FF3399"/>
                </a:solidFill>
                <a:latin typeface="Arial"/>
                <a:cs typeface="Arial"/>
              </a:rPr>
              <a:t>Any</a:t>
            </a:r>
            <a:r>
              <a:rPr sz="2000" spc="-2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3399"/>
                </a:solidFill>
                <a:latin typeface="Arial"/>
                <a:cs typeface="Arial"/>
              </a:rPr>
              <a:t>Queries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8194" y="2831338"/>
            <a:ext cx="135763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1" dirty="0">
                <a:solidFill>
                  <a:srgbClr val="FF3399"/>
                </a:solidFill>
                <a:latin typeface="Arial"/>
                <a:cs typeface="Arial"/>
              </a:rPr>
              <a:t>Thank</a:t>
            </a:r>
            <a:r>
              <a:rPr sz="2100" b="1" spc="-30" dirty="0">
                <a:solidFill>
                  <a:srgbClr val="FF3399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FF3399"/>
                </a:solidFill>
                <a:latin typeface="Arial"/>
                <a:cs typeface="Arial"/>
              </a:rPr>
              <a:t>you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8733" y="4900371"/>
            <a:ext cx="15367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751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1.Introduction</vt:lpstr>
      <vt:lpstr>2.Abstract</vt:lpstr>
      <vt:lpstr>3.Existing system</vt:lpstr>
      <vt:lpstr>4.Limitations on Paper</vt:lpstr>
      <vt:lpstr>5.Comparative Insights</vt:lpstr>
      <vt:lpstr>6. Feature Extraction Technique</vt:lpstr>
      <vt:lpstr>PowerPoint Presentation</vt:lpstr>
      <vt:lpstr>8.Conclusion</vt:lpstr>
      <vt:lpstr>9.future Enhancement</vt:lpstr>
      <vt:lpstr>Any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VELMURUGAN PC</dc:creator>
  <cp:lastModifiedBy>VELMURUGAN U</cp:lastModifiedBy>
  <cp:revision>60</cp:revision>
  <dcterms:created xsi:type="dcterms:W3CDTF">2025-08-10T12:22:08Z</dcterms:created>
  <dcterms:modified xsi:type="dcterms:W3CDTF">2025-12-11T05:11:34Z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2025-08-10T00:00:00Z</vt:filetime>
  </property>
  <property fmtid="{D5CDD505-2E9C-101B-9397-08002B2CF9AE}" pid="5" name="Producer">
    <vt:lpwstr>www.ilovepdf.com</vt:lpwstr>
  </property>
</Properties>
</file>